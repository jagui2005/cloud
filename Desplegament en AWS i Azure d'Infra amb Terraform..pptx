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Lato"/>
      <p:regular r:id="rId24"/>
      <p:bold r:id="rId25"/>
      <p:italic r:id="rId26"/>
      <p:boldItalic r:id="rId27"/>
    </p:embeddedFont>
    <p:embeddedFont>
      <p:font typeface="Montserrat Black"/>
      <p:bold r:id="rId28"/>
      <p:boldItalic r:id="rId29"/>
    </p:embeddedFont>
    <p:embeddedFont>
      <p:font typeface="Montserrat ExtraBold"/>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regular.fntdata"/><Relationship Id="rId23"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MontserratBlack-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lack-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ExtraBold-boldItalic.fntdata"/><Relationship Id="rId30" Type="http://schemas.openxmlformats.org/officeDocument/2006/relationships/font" Target="fonts/MontserratExtraBo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a5ef027a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a5ef027a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c05fc05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c05fc05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c05fc05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c05fc05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c05fc05e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c05fc05e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c05fc05e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c05fc05e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c05fc05e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c05fc05e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c070a0c2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c070a0c2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c070a0c2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c070a0c2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c070a0c2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c070a0c2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c070a0c2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c070a0c2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c070a0c2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cc070a0c2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c05fc05e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c05fc05e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c05fc05e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c05fc05e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github.com/Jagui2005/clou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Jagui2005/clou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Jagui2005/clou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243400" y="849075"/>
            <a:ext cx="5824800" cy="21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900">
                <a:latin typeface="Montserrat Black"/>
                <a:ea typeface="Montserrat Black"/>
                <a:cs typeface="Montserrat Black"/>
                <a:sym typeface="Montserrat Black"/>
              </a:rPr>
              <a:t>Desplegamiento de infraestructura AWS y Azure con Terraform </a:t>
            </a:r>
            <a:endParaRPr sz="3900">
              <a:latin typeface="Montserrat Black"/>
              <a:ea typeface="Montserrat Black"/>
              <a:cs typeface="Montserrat Black"/>
              <a:sym typeface="Montserrat Black"/>
            </a:endParaRPr>
          </a:p>
        </p:txBody>
      </p:sp>
      <p:sp>
        <p:nvSpPr>
          <p:cNvPr id="135" name="Google Shape;135;p13"/>
          <p:cNvSpPr txBox="1"/>
          <p:nvPr>
            <p:ph idx="1" type="subTitle"/>
          </p:nvPr>
        </p:nvSpPr>
        <p:spPr>
          <a:xfrm>
            <a:off x="4699600" y="3924925"/>
            <a:ext cx="43686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Montserrat ExtraBold"/>
                <a:ea typeface="Montserrat ExtraBold"/>
                <a:cs typeface="Montserrat ExtraBold"/>
                <a:sym typeface="Montserrat ExtraBold"/>
              </a:rPr>
              <a:t>Juan Miguel Aguilar, Jaume Morte, Jose Tejero </a:t>
            </a:r>
            <a:endParaRPr>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Descripción</a:t>
            </a:r>
            <a:r>
              <a:rPr b="1" lang="es" sz="2200">
                <a:latin typeface="Montserrat"/>
                <a:ea typeface="Montserrat"/>
                <a:cs typeface="Montserrat"/>
                <a:sym typeface="Montserrat"/>
              </a:rPr>
              <a:t> del proyecto </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AWS y Azure</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Pros y contras</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Terraform</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Dificultades </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Código terraform</a:t>
            </a:r>
            <a:endParaRPr b="1" sz="2200">
              <a:latin typeface="Montserrat"/>
              <a:ea typeface="Montserrat"/>
              <a:cs typeface="Montserrat"/>
              <a:sym typeface="Montserrat"/>
            </a:endParaRPr>
          </a:p>
          <a:p>
            <a:pPr indent="-368300" lvl="0" marL="457200" rtl="0" algn="l">
              <a:spcBef>
                <a:spcPts val="0"/>
              </a:spcBef>
              <a:spcAft>
                <a:spcPts val="0"/>
              </a:spcAft>
              <a:buSzPts val="2200"/>
              <a:buFont typeface="Montserrat"/>
              <a:buAutoNum type="arabicPeriod"/>
            </a:pPr>
            <a:r>
              <a:rPr b="1" lang="es" sz="2200">
                <a:latin typeface="Montserrat"/>
                <a:ea typeface="Montserrat"/>
                <a:cs typeface="Montserrat"/>
                <a:sym typeface="Montserrat"/>
              </a:rPr>
              <a:t>Conclusión</a:t>
            </a:r>
            <a:endParaRPr b="1" sz="2200">
              <a:latin typeface="Montserrat"/>
              <a:ea typeface="Montserrat"/>
              <a:cs typeface="Montserrat"/>
              <a:sym typeface="Montserrat"/>
            </a:endParaRPr>
          </a:p>
        </p:txBody>
      </p:sp>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índice</a:t>
            </a:r>
            <a:endParaRPr sz="3000">
              <a:latin typeface="Montserrat Black"/>
              <a:ea typeface="Montserrat Black"/>
              <a:cs typeface="Montserrat Black"/>
              <a:sym typeface="Montserrat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419100" lvl="0" marL="457200" rtl="0" algn="l">
              <a:spcBef>
                <a:spcPts val="0"/>
              </a:spcBef>
              <a:spcAft>
                <a:spcPts val="0"/>
              </a:spcAft>
              <a:buSzPts val="3000"/>
              <a:buFont typeface="Montserrat Black"/>
              <a:buAutoNum type="arabicPeriod"/>
            </a:pPr>
            <a:r>
              <a:rPr lang="es" sz="3000">
                <a:latin typeface="Montserrat Black"/>
                <a:ea typeface="Montserrat Black"/>
                <a:cs typeface="Montserrat Black"/>
                <a:sym typeface="Montserrat Black"/>
              </a:rPr>
              <a:t>Descripción del proyecto</a:t>
            </a:r>
            <a:endParaRPr sz="3000">
              <a:latin typeface="Montserrat Black"/>
              <a:ea typeface="Montserrat Black"/>
              <a:cs typeface="Montserrat Black"/>
              <a:sym typeface="Montserrat Black"/>
            </a:endParaRPr>
          </a:p>
        </p:txBody>
      </p:sp>
      <p:sp>
        <p:nvSpPr>
          <p:cNvPr id="147" name="Google Shape;147;p15"/>
          <p:cNvSpPr txBox="1"/>
          <p:nvPr>
            <p:ph idx="1" type="body"/>
          </p:nvPr>
        </p:nvSpPr>
        <p:spPr>
          <a:xfrm>
            <a:off x="1414925" y="1367925"/>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600">
                <a:latin typeface="Montserrat"/>
                <a:ea typeface="Montserrat"/>
                <a:cs typeface="Montserrat"/>
                <a:sym typeface="Montserrat"/>
              </a:rPr>
              <a:t>El objetivo de este </a:t>
            </a:r>
            <a:r>
              <a:rPr b="1" lang="es" sz="1600">
                <a:latin typeface="Montserrat"/>
                <a:ea typeface="Montserrat"/>
                <a:cs typeface="Montserrat"/>
                <a:sym typeface="Montserrat"/>
              </a:rPr>
              <a:t>proyecto</a:t>
            </a:r>
            <a:r>
              <a:rPr b="1" lang="es" sz="1600">
                <a:latin typeface="Montserrat"/>
                <a:ea typeface="Montserrat"/>
                <a:cs typeface="Montserrat"/>
                <a:sym typeface="Montserrat"/>
              </a:rPr>
              <a:t> </a:t>
            </a:r>
            <a:r>
              <a:rPr b="1" lang="es" sz="1600">
                <a:latin typeface="Montserrat"/>
                <a:ea typeface="Montserrat"/>
                <a:cs typeface="Montserrat"/>
                <a:sym typeface="Montserrat"/>
              </a:rPr>
              <a:t>es</a:t>
            </a:r>
            <a:r>
              <a:rPr b="1" lang="es" sz="1600">
                <a:latin typeface="Montserrat"/>
                <a:ea typeface="Montserrat"/>
                <a:cs typeface="Montserrat"/>
                <a:sym typeface="Montserrat"/>
              </a:rPr>
              <a:t> diseñar y desplegar una arquitectura cloud en AWS Y Azure, mediante Infraestructura co</a:t>
            </a:r>
            <a:r>
              <a:rPr b="1" lang="es" sz="1600">
                <a:latin typeface="Montserrat"/>
                <a:ea typeface="Montserrat"/>
                <a:cs typeface="Montserrat"/>
                <a:sym typeface="Montserrat"/>
              </a:rPr>
              <a:t>mo</a:t>
            </a:r>
            <a:r>
              <a:rPr b="1" lang="es" sz="1600">
                <a:latin typeface="Montserrat"/>
                <a:ea typeface="Montserrat"/>
                <a:cs typeface="Montserrat"/>
                <a:sym typeface="Montserrat"/>
              </a:rPr>
              <a:t> código (IaaC), para ello usaremos el lenguaje de </a:t>
            </a:r>
            <a:r>
              <a:rPr b="1" lang="es" sz="1600">
                <a:latin typeface="Montserrat"/>
                <a:ea typeface="Montserrat"/>
                <a:cs typeface="Montserrat"/>
                <a:sym typeface="Montserrat"/>
              </a:rPr>
              <a:t>programación</a:t>
            </a:r>
            <a:r>
              <a:rPr b="1" lang="es" sz="1600">
                <a:latin typeface="Montserrat"/>
                <a:ea typeface="Montserrat"/>
                <a:cs typeface="Montserrat"/>
                <a:sym typeface="Montserrat"/>
              </a:rPr>
              <a:t> Terraform.</a:t>
            </a:r>
            <a:endParaRPr b="1" sz="1600">
              <a:latin typeface="Montserrat"/>
              <a:ea typeface="Montserrat"/>
              <a:cs typeface="Montserrat"/>
              <a:sym typeface="Montserrat"/>
            </a:endParaRPr>
          </a:p>
          <a:p>
            <a:pPr indent="0" lvl="0" marL="0" rtl="0" algn="l">
              <a:spcBef>
                <a:spcPts val="1200"/>
              </a:spcBef>
              <a:spcAft>
                <a:spcPts val="0"/>
              </a:spcAft>
              <a:buNone/>
            </a:pPr>
            <a:r>
              <a:rPr b="1" lang="es" sz="1600">
                <a:latin typeface="Montserrat"/>
                <a:ea typeface="Montserrat"/>
                <a:cs typeface="Montserrat"/>
                <a:sym typeface="Montserrat"/>
              </a:rPr>
              <a:t>Características</a:t>
            </a:r>
            <a:r>
              <a:rPr b="1" lang="es" sz="1600">
                <a:latin typeface="Montserrat"/>
                <a:ea typeface="Montserrat"/>
                <a:cs typeface="Montserrat"/>
                <a:sym typeface="Montserrat"/>
              </a:rPr>
              <a:t> necesarias:</a:t>
            </a:r>
            <a:endParaRPr b="1" sz="1600">
              <a:latin typeface="Montserrat"/>
              <a:ea typeface="Montserrat"/>
              <a:cs typeface="Montserrat"/>
              <a:sym typeface="Montserrat"/>
            </a:endParaRPr>
          </a:p>
          <a:p>
            <a:pPr indent="-330200" lvl="0" marL="457200" rtl="0" algn="l">
              <a:spcBef>
                <a:spcPts val="1200"/>
              </a:spcBef>
              <a:spcAft>
                <a:spcPts val="0"/>
              </a:spcAft>
              <a:buSzPts val="1600"/>
              <a:buFont typeface="Montserrat"/>
              <a:buChar char="-"/>
            </a:pPr>
            <a:r>
              <a:rPr b="1" lang="es" sz="1600">
                <a:latin typeface="Montserrat"/>
                <a:ea typeface="Montserrat"/>
                <a:cs typeface="Montserrat"/>
                <a:sym typeface="Montserrat"/>
              </a:rPr>
              <a:t>Recursos </a:t>
            </a:r>
            <a:r>
              <a:rPr b="1" lang="es" sz="1600">
                <a:latin typeface="Montserrat"/>
                <a:ea typeface="Montserrat"/>
                <a:cs typeface="Montserrat"/>
                <a:sym typeface="Montserrat"/>
              </a:rPr>
              <a:t>paralelos para las dos infraestructuras</a:t>
            </a:r>
            <a:endParaRPr b="1" sz="1600">
              <a:latin typeface="Montserrat"/>
              <a:ea typeface="Montserrat"/>
              <a:cs typeface="Montserrat"/>
              <a:sym typeface="Montserrat"/>
            </a:endParaRPr>
          </a:p>
          <a:p>
            <a:pPr indent="-330200" lvl="0" marL="457200" rtl="0" algn="l">
              <a:spcBef>
                <a:spcPts val="0"/>
              </a:spcBef>
              <a:spcAft>
                <a:spcPts val="0"/>
              </a:spcAft>
              <a:buSzPts val="1600"/>
              <a:buFont typeface="Montserrat"/>
              <a:buChar char="-"/>
            </a:pPr>
            <a:r>
              <a:rPr b="1" lang="es" sz="1600">
                <a:latin typeface="Montserrat"/>
                <a:ea typeface="Montserrat"/>
                <a:cs typeface="Montserrat"/>
                <a:sym typeface="Montserrat"/>
              </a:rPr>
              <a:t>Modularización del código</a:t>
            </a:r>
            <a:endParaRPr b="1" sz="1600">
              <a:latin typeface="Montserrat"/>
              <a:ea typeface="Montserrat"/>
              <a:cs typeface="Montserrat"/>
              <a:sym typeface="Montserrat"/>
            </a:endParaRPr>
          </a:p>
          <a:p>
            <a:pPr indent="-330200" lvl="0" marL="457200" rtl="0" algn="l">
              <a:spcBef>
                <a:spcPts val="0"/>
              </a:spcBef>
              <a:spcAft>
                <a:spcPts val="0"/>
              </a:spcAft>
              <a:buSzPts val="1600"/>
              <a:buFont typeface="Montserrat"/>
              <a:buChar char="-"/>
            </a:pPr>
            <a:r>
              <a:rPr b="1" lang="es" sz="1600">
                <a:latin typeface="Montserrat"/>
                <a:ea typeface="Montserrat"/>
                <a:cs typeface="Montserrat"/>
                <a:sym typeface="Montserrat"/>
              </a:rPr>
              <a:t>Configuración multi-provider </a:t>
            </a:r>
            <a:endParaRPr b="1" sz="160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2.  AWS</a:t>
            </a:r>
            <a:endParaRPr sz="3000">
              <a:latin typeface="Montserrat Black"/>
              <a:ea typeface="Montserrat Black"/>
              <a:cs typeface="Montserrat Black"/>
              <a:sym typeface="Montserrat Black"/>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500">
                <a:latin typeface="Montserrat"/>
                <a:ea typeface="Montserrat"/>
                <a:cs typeface="Montserrat"/>
                <a:sym typeface="Montserrat"/>
              </a:rPr>
              <a:t>Amazon Web Services es la plataforma de nube pública </a:t>
            </a:r>
            <a:r>
              <a:rPr b="1" lang="es" sz="1500">
                <a:latin typeface="Montserrat"/>
                <a:ea typeface="Montserrat"/>
                <a:cs typeface="Montserrat"/>
                <a:sym typeface="Montserrat"/>
              </a:rPr>
              <a:t>más</a:t>
            </a:r>
            <a:r>
              <a:rPr b="1" lang="es" sz="1500">
                <a:latin typeface="Montserrat"/>
                <a:ea typeface="Montserrat"/>
                <a:cs typeface="Montserrat"/>
                <a:sym typeface="Montserrat"/>
              </a:rPr>
              <a:t> usada del mundo, nos permite crear infraestructura bajo demanda sin la necesidad de tener que tener el hardware físico para alojarla. Los costes de estas infraestructuras suelen ser elevados, pero tenemos la ventaja de no depender del hardware. </a:t>
            </a:r>
            <a:endParaRPr b="1" sz="1500">
              <a:latin typeface="Montserrat"/>
              <a:ea typeface="Montserrat"/>
              <a:cs typeface="Montserrat"/>
              <a:sym typeface="Montserrat"/>
            </a:endParaRPr>
          </a:p>
          <a:p>
            <a:pPr indent="0" lvl="0" marL="0" rtl="0" algn="l">
              <a:spcBef>
                <a:spcPts val="1200"/>
              </a:spcBef>
              <a:spcAft>
                <a:spcPts val="0"/>
              </a:spcAft>
              <a:buNone/>
            </a:pPr>
            <a:r>
              <a:rPr b="1" lang="es" sz="1500">
                <a:latin typeface="Montserrat"/>
                <a:ea typeface="Montserrat"/>
                <a:cs typeface="Montserrat"/>
                <a:sym typeface="Montserrat"/>
              </a:rPr>
              <a:t>Componentes de AWS:</a:t>
            </a:r>
            <a:endParaRPr b="1" sz="1500">
              <a:latin typeface="Montserrat"/>
              <a:ea typeface="Montserrat"/>
              <a:cs typeface="Montserrat"/>
              <a:sym typeface="Montserrat"/>
            </a:endParaRPr>
          </a:p>
          <a:p>
            <a:pPr indent="-323850" lvl="0" marL="457200" rtl="0" algn="l">
              <a:spcBef>
                <a:spcPts val="1200"/>
              </a:spcBef>
              <a:spcAft>
                <a:spcPts val="0"/>
              </a:spcAft>
              <a:buSzPts val="1500"/>
              <a:buFont typeface="Montserrat"/>
              <a:buChar char="-"/>
            </a:pPr>
            <a:r>
              <a:rPr b="1" lang="es" sz="1500">
                <a:latin typeface="Montserrat"/>
                <a:ea typeface="Montserrat"/>
                <a:cs typeface="Montserrat"/>
                <a:sym typeface="Montserrat"/>
              </a:rPr>
              <a:t>VPC (Virtual private Cloud): La red privada virtual.</a:t>
            </a:r>
            <a:endParaRPr b="1" sz="1500">
              <a:latin typeface="Montserrat"/>
              <a:ea typeface="Montserrat"/>
              <a:cs typeface="Montserrat"/>
              <a:sym typeface="Montserrat"/>
            </a:endParaRPr>
          </a:p>
          <a:p>
            <a:pPr indent="-323850" lvl="0" marL="457200" rtl="0" algn="l">
              <a:spcBef>
                <a:spcPts val="0"/>
              </a:spcBef>
              <a:spcAft>
                <a:spcPts val="0"/>
              </a:spcAft>
              <a:buSzPts val="1500"/>
              <a:buFont typeface="Montserrat"/>
              <a:buChar char="-"/>
            </a:pPr>
            <a:r>
              <a:rPr b="1" lang="es" sz="1500">
                <a:latin typeface="Montserrat"/>
                <a:ea typeface="Montserrat"/>
                <a:cs typeface="Montserrat"/>
                <a:sym typeface="Montserrat"/>
              </a:rPr>
              <a:t>EC2: Son las </a:t>
            </a:r>
            <a:r>
              <a:rPr b="1" lang="es" sz="1500">
                <a:latin typeface="Montserrat"/>
                <a:ea typeface="Montserrat"/>
                <a:cs typeface="Montserrat"/>
                <a:sym typeface="Montserrat"/>
              </a:rPr>
              <a:t>máquinas</a:t>
            </a:r>
            <a:r>
              <a:rPr b="1" lang="es" sz="1500">
                <a:latin typeface="Montserrat"/>
                <a:ea typeface="Montserrat"/>
                <a:cs typeface="Montserrat"/>
                <a:sym typeface="Montserrat"/>
              </a:rPr>
              <a:t> virtuales o instancias.</a:t>
            </a:r>
            <a:endParaRPr b="1" sz="1500">
              <a:latin typeface="Montserrat"/>
              <a:ea typeface="Montserrat"/>
              <a:cs typeface="Montserrat"/>
              <a:sym typeface="Montserrat"/>
            </a:endParaRPr>
          </a:p>
          <a:p>
            <a:pPr indent="-323850" lvl="0" marL="457200" rtl="0" algn="l">
              <a:spcBef>
                <a:spcPts val="0"/>
              </a:spcBef>
              <a:spcAft>
                <a:spcPts val="0"/>
              </a:spcAft>
              <a:buSzPts val="1500"/>
              <a:buFont typeface="Montserrat"/>
              <a:buChar char="-"/>
            </a:pPr>
            <a:r>
              <a:rPr b="1" lang="es" sz="1500">
                <a:latin typeface="Montserrat"/>
                <a:ea typeface="Montserrat"/>
                <a:cs typeface="Montserrat"/>
                <a:sym typeface="Montserrat"/>
              </a:rPr>
              <a:t>S3: Almacenamiento de objetos escalable.</a:t>
            </a:r>
            <a:endParaRPr b="1" sz="1500">
              <a:latin typeface="Montserrat"/>
              <a:ea typeface="Montserrat"/>
              <a:cs typeface="Montserrat"/>
              <a:sym typeface="Montserrat"/>
            </a:endParaRPr>
          </a:p>
        </p:txBody>
      </p:sp>
      <p:pic>
        <p:nvPicPr>
          <p:cNvPr id="154" name="Google Shape;154;p16"/>
          <p:cNvPicPr preferRelativeResize="0"/>
          <p:nvPr/>
        </p:nvPicPr>
        <p:blipFill>
          <a:blip r:embed="rId3">
            <a:alphaModFix/>
          </a:blip>
          <a:stretch>
            <a:fillRect/>
          </a:stretch>
        </p:blipFill>
        <p:spPr>
          <a:xfrm>
            <a:off x="6377075" y="2909775"/>
            <a:ext cx="2978301" cy="2233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2</a:t>
            </a:r>
            <a:r>
              <a:rPr lang="es" sz="3000">
                <a:latin typeface="Montserrat Black"/>
                <a:ea typeface="Montserrat Black"/>
                <a:cs typeface="Montserrat Black"/>
                <a:sym typeface="Montserrat Black"/>
              </a:rPr>
              <a:t>.  Azure</a:t>
            </a:r>
            <a:endParaRPr sz="3000">
              <a:latin typeface="Montserrat Black"/>
              <a:ea typeface="Montserrat Black"/>
              <a:cs typeface="Montserrat Black"/>
              <a:sym typeface="Montserrat Black"/>
            </a:endParaRPr>
          </a:p>
        </p:txBody>
      </p:sp>
      <p:sp>
        <p:nvSpPr>
          <p:cNvPr id="160" name="Google Shape;160;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400">
                <a:latin typeface="Montserrat"/>
                <a:ea typeface="Montserrat"/>
                <a:cs typeface="Montserrat"/>
                <a:sym typeface="Montserrat"/>
              </a:rPr>
              <a:t>Azure es la plataforma de computación en la nube de Microsoft que, al igual que AWS, permite desplegar infraestructura cloud. Una de sus principales diferencias es el uso obligatorio de resource groups, ya que todos los recursos deben crearse dentro de uno de estos grupos.</a:t>
            </a:r>
            <a:endParaRPr b="1" sz="1600">
              <a:latin typeface="Montserrat"/>
              <a:ea typeface="Montserrat"/>
              <a:cs typeface="Montserrat"/>
              <a:sym typeface="Montserrat"/>
            </a:endParaRPr>
          </a:p>
          <a:p>
            <a:pPr indent="0" lvl="0" marL="0" rtl="0" algn="l">
              <a:spcBef>
                <a:spcPts val="1200"/>
              </a:spcBef>
              <a:spcAft>
                <a:spcPts val="0"/>
              </a:spcAft>
              <a:buNone/>
            </a:pPr>
            <a:r>
              <a:rPr b="1" lang="es" sz="1400">
                <a:latin typeface="Montserrat"/>
                <a:ea typeface="Montserrat"/>
                <a:cs typeface="Montserrat"/>
                <a:sym typeface="Montserrat"/>
              </a:rPr>
              <a:t>Componentes Clave en el Proyecto:</a:t>
            </a:r>
            <a:endParaRPr b="1" sz="1400">
              <a:latin typeface="Montserrat"/>
              <a:ea typeface="Montserrat"/>
              <a:cs typeface="Montserrat"/>
              <a:sym typeface="Montserrat"/>
            </a:endParaRPr>
          </a:p>
          <a:p>
            <a:pPr indent="-317500" lvl="0" marL="457200" rtl="0" algn="l">
              <a:spcBef>
                <a:spcPts val="1200"/>
              </a:spcBef>
              <a:spcAft>
                <a:spcPts val="0"/>
              </a:spcAft>
              <a:buSzPts val="1400"/>
              <a:buFont typeface="Montserrat"/>
              <a:buChar char="-"/>
            </a:pPr>
            <a:r>
              <a:rPr b="1" lang="es" sz="1400">
                <a:latin typeface="Montserrat"/>
                <a:ea typeface="Montserrat"/>
                <a:cs typeface="Montserrat"/>
                <a:sym typeface="Montserrat"/>
              </a:rPr>
              <a:t>Resource Group: El "cubo" donde meteremos todo.</a:t>
            </a:r>
            <a:endParaRPr b="1" sz="1400">
              <a:latin typeface="Montserrat"/>
              <a:ea typeface="Montserrat"/>
              <a:cs typeface="Montserrat"/>
              <a:sym typeface="Montserrat"/>
            </a:endParaRPr>
          </a:p>
          <a:p>
            <a:pPr indent="-317500" lvl="0" marL="457200" rtl="0" algn="l">
              <a:spcBef>
                <a:spcPts val="0"/>
              </a:spcBef>
              <a:spcAft>
                <a:spcPts val="0"/>
              </a:spcAft>
              <a:buSzPts val="1400"/>
              <a:buFont typeface="Montserrat"/>
              <a:buChar char="-"/>
            </a:pPr>
            <a:r>
              <a:rPr b="1" lang="es" sz="1400">
                <a:latin typeface="Montserrat"/>
                <a:ea typeface="Montserrat"/>
                <a:cs typeface="Montserrat"/>
                <a:sym typeface="Montserrat"/>
              </a:rPr>
              <a:t>VNet (Virtual Network): Son las VPC de AWS.</a:t>
            </a:r>
            <a:endParaRPr b="1" sz="1400">
              <a:latin typeface="Montserrat"/>
              <a:ea typeface="Montserrat"/>
              <a:cs typeface="Montserrat"/>
              <a:sym typeface="Montserrat"/>
            </a:endParaRPr>
          </a:p>
          <a:p>
            <a:pPr indent="-317500" lvl="0" marL="457200" rtl="0" algn="l">
              <a:spcBef>
                <a:spcPts val="0"/>
              </a:spcBef>
              <a:spcAft>
                <a:spcPts val="0"/>
              </a:spcAft>
              <a:buSzPts val="1400"/>
              <a:buFont typeface="Montserrat"/>
              <a:buChar char="-"/>
            </a:pPr>
            <a:r>
              <a:rPr b="1" lang="es" sz="1400">
                <a:latin typeface="Montserrat"/>
                <a:ea typeface="Montserrat"/>
                <a:cs typeface="Montserrat"/>
                <a:sym typeface="Montserrat"/>
              </a:rPr>
              <a:t>Virtual Machines / Storage Account: Máquinas virtuales y almacenamiento de objetos.</a:t>
            </a:r>
            <a:endParaRPr b="1" sz="1400">
              <a:latin typeface="Montserrat"/>
              <a:ea typeface="Montserrat"/>
              <a:cs typeface="Montserrat"/>
              <a:sym typeface="Montserrat"/>
            </a:endParaRPr>
          </a:p>
        </p:txBody>
      </p:sp>
      <p:pic>
        <p:nvPicPr>
          <p:cNvPr id="161" name="Google Shape;161;p17"/>
          <p:cNvPicPr preferRelativeResize="0"/>
          <p:nvPr/>
        </p:nvPicPr>
        <p:blipFill>
          <a:blip r:embed="rId3">
            <a:alphaModFix/>
          </a:blip>
          <a:stretch>
            <a:fillRect/>
          </a:stretch>
        </p:blipFill>
        <p:spPr>
          <a:xfrm>
            <a:off x="6596100" y="3428875"/>
            <a:ext cx="2547900" cy="1714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sz="3333"/>
              <a:t>3</a:t>
            </a:r>
            <a:r>
              <a:rPr b="1" lang="es" sz="3333"/>
              <a:t>.  Pros y contras de AWS</a:t>
            </a:r>
            <a:endParaRPr b="1" sz="3333"/>
          </a:p>
          <a:p>
            <a:pPr indent="0" lvl="0" marL="0" rtl="0" algn="l">
              <a:spcBef>
                <a:spcPts val="0"/>
              </a:spcBef>
              <a:spcAft>
                <a:spcPts val="0"/>
              </a:spcAft>
              <a:buNone/>
            </a:pPr>
            <a:r>
              <a:t/>
            </a:r>
            <a:endParaRPr/>
          </a:p>
        </p:txBody>
      </p:sp>
      <p:sp>
        <p:nvSpPr>
          <p:cNvPr id="167" name="Google Shape;167;p18"/>
          <p:cNvSpPr txBox="1"/>
          <p:nvPr>
            <p:ph idx="1" type="body"/>
          </p:nvPr>
        </p:nvSpPr>
        <p:spPr>
          <a:xfrm>
            <a:off x="1297500" y="1307850"/>
            <a:ext cx="3403200" cy="36408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lang="es" sz="3750">
                <a:latin typeface="Montserrat Black"/>
                <a:ea typeface="Montserrat Black"/>
                <a:cs typeface="Montserrat Black"/>
                <a:sym typeface="Montserrat Black"/>
              </a:rPr>
              <a:t>Pros:</a:t>
            </a:r>
            <a:endParaRPr sz="3750">
              <a:latin typeface="Montserrat Black"/>
              <a:ea typeface="Montserrat Black"/>
              <a:cs typeface="Montserrat Black"/>
              <a:sym typeface="Montserrat Black"/>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Es el proveedor cloud lider y mas utilizado en el mundo</a:t>
            </a:r>
            <a:endParaRPr b="1" sz="3100">
              <a:latin typeface="Montserrat"/>
              <a:ea typeface="Montserrat"/>
              <a:cs typeface="Montserrat"/>
              <a:sym typeface="Montserrat"/>
            </a:endParaRPr>
          </a:p>
          <a:p>
            <a:pPr indent="0" lvl="0" marL="457200" rtl="0" algn="l">
              <a:lnSpc>
                <a:spcPct val="100000"/>
              </a:lnSpc>
              <a:spcBef>
                <a:spcPts val="1200"/>
              </a:spcBef>
              <a:spcAft>
                <a:spcPts val="0"/>
              </a:spcAft>
              <a:buNone/>
            </a:pPr>
            <a:r>
              <a:t/>
            </a:r>
            <a:endParaRPr b="1" sz="3100">
              <a:latin typeface="Montserrat"/>
              <a:ea typeface="Montserrat"/>
              <a:cs typeface="Montserrat"/>
              <a:sym typeface="Montserrat"/>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Ofrece la mayor variedad de servicios y funcionalidades</a:t>
            </a:r>
            <a:endParaRPr b="1" sz="3100">
              <a:latin typeface="Montserrat"/>
              <a:ea typeface="Montserrat"/>
              <a:cs typeface="Montserrat"/>
              <a:sym typeface="Montserrat"/>
            </a:endParaRPr>
          </a:p>
          <a:p>
            <a:pPr indent="0" lvl="0" marL="457200" rtl="0" algn="l">
              <a:lnSpc>
                <a:spcPct val="100000"/>
              </a:lnSpc>
              <a:spcBef>
                <a:spcPts val="1200"/>
              </a:spcBef>
              <a:spcAft>
                <a:spcPts val="0"/>
              </a:spcAft>
              <a:buNone/>
            </a:pPr>
            <a:r>
              <a:t/>
            </a:r>
            <a:endParaRPr b="1" sz="3100">
              <a:latin typeface="Montserrat"/>
              <a:ea typeface="Montserrat"/>
              <a:cs typeface="Montserrat"/>
              <a:sym typeface="Montserrat"/>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Muy buen soporte para Linux, open source y desarrollo moderno </a:t>
            </a:r>
            <a:endParaRPr b="1" sz="3100">
              <a:latin typeface="Montserrat"/>
              <a:ea typeface="Montserrat"/>
              <a:cs typeface="Montserrat"/>
              <a:sym typeface="Montserrat"/>
            </a:endParaRPr>
          </a:p>
          <a:p>
            <a:pPr indent="0" lvl="0" marL="0" rtl="0" algn="l">
              <a:lnSpc>
                <a:spcPct val="100000"/>
              </a:lnSpc>
              <a:spcBef>
                <a:spcPts val="1200"/>
              </a:spcBef>
              <a:spcAft>
                <a:spcPts val="0"/>
              </a:spcAft>
              <a:buNone/>
            </a:pPr>
            <a:r>
              <a:t/>
            </a:r>
            <a:endParaRPr b="1" sz="3100">
              <a:latin typeface="Montserrat"/>
              <a:ea typeface="Montserrat"/>
              <a:cs typeface="Montserrat"/>
              <a:sym typeface="Montserrat"/>
            </a:endParaRPr>
          </a:p>
          <a:p>
            <a:pPr indent="-307340" lvl="0" marL="457200" rtl="0" algn="l">
              <a:lnSpc>
                <a:spcPct val="100000"/>
              </a:lnSpc>
              <a:spcBef>
                <a:spcPts val="1200"/>
              </a:spcBef>
              <a:spcAft>
                <a:spcPts val="0"/>
              </a:spcAft>
              <a:buSzPct val="100000"/>
              <a:buFont typeface="Montserrat"/>
              <a:buChar char="●"/>
            </a:pPr>
            <a:r>
              <a:rPr b="1" lang="es" sz="3100">
                <a:latin typeface="Montserrat"/>
                <a:ea typeface="Montserrat"/>
                <a:cs typeface="Montserrat"/>
                <a:sym typeface="Montserrat"/>
              </a:rPr>
              <a:t>Alta escalabilidad y flexibilidad</a:t>
            </a:r>
            <a:endParaRPr b="1" sz="3100">
              <a:latin typeface="Montserrat"/>
              <a:ea typeface="Montserrat"/>
              <a:cs typeface="Montserrat"/>
              <a:sym typeface="Montserrat"/>
            </a:endParaRPr>
          </a:p>
          <a:p>
            <a:pPr indent="0" lvl="0" marL="0" rtl="0" algn="l">
              <a:spcBef>
                <a:spcPts val="1200"/>
              </a:spcBef>
              <a:spcAft>
                <a:spcPts val="1200"/>
              </a:spcAft>
              <a:buNone/>
            </a:pPr>
            <a:r>
              <a:t/>
            </a:r>
            <a:endParaRPr/>
          </a:p>
        </p:txBody>
      </p:sp>
      <p:sp>
        <p:nvSpPr>
          <p:cNvPr id="168" name="Google Shape;168;p18"/>
          <p:cNvSpPr txBox="1"/>
          <p:nvPr>
            <p:ph idx="2" type="body"/>
          </p:nvPr>
        </p:nvSpPr>
        <p:spPr>
          <a:xfrm>
            <a:off x="4933225" y="1307850"/>
            <a:ext cx="3403200" cy="357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500">
                <a:latin typeface="Montserrat Black"/>
                <a:ea typeface="Montserrat Black"/>
                <a:cs typeface="Montserrat Black"/>
                <a:sym typeface="Montserrat Black"/>
              </a:rPr>
              <a:t>Contras:</a:t>
            </a:r>
            <a:endParaRPr sz="1500">
              <a:latin typeface="Montserrat Black"/>
              <a:ea typeface="Montserrat Black"/>
              <a:cs typeface="Montserrat Black"/>
              <a:sym typeface="Montserrat Black"/>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Curva de aprendizaje más complejo para principiantes </a:t>
            </a:r>
            <a:endParaRPr b="1">
              <a:latin typeface="Montserrat"/>
              <a:ea typeface="Montserrat"/>
              <a:cs typeface="Montserrat"/>
              <a:sym typeface="Montserrat"/>
            </a:endParaRPr>
          </a:p>
          <a:p>
            <a:pPr indent="0" lvl="0" marL="45720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Interfaz puede resultar menos intuitiva</a:t>
            </a:r>
            <a:endParaRPr b="1">
              <a:latin typeface="Montserrat"/>
              <a:ea typeface="Montserrat"/>
              <a:cs typeface="Montserrat"/>
              <a:sym typeface="Montserrat"/>
            </a:endParaRPr>
          </a:p>
          <a:p>
            <a:pPr indent="0" lvl="0" marL="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Integración con herramientas MIcrosoft más limitada </a:t>
            </a:r>
            <a:endParaRPr b="1">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3000"/>
              <a:t>3. </a:t>
            </a:r>
            <a:r>
              <a:rPr b="1" lang="es" sz="3000"/>
              <a:t>Pros y contras de Azure</a:t>
            </a:r>
            <a:endParaRPr/>
          </a:p>
        </p:txBody>
      </p:sp>
      <p:sp>
        <p:nvSpPr>
          <p:cNvPr id="174" name="Google Shape;174;p19"/>
          <p:cNvSpPr txBox="1"/>
          <p:nvPr>
            <p:ph idx="1" type="body"/>
          </p:nvPr>
        </p:nvSpPr>
        <p:spPr>
          <a:xfrm>
            <a:off x="1297500" y="1307850"/>
            <a:ext cx="3403200" cy="3617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s" sz="6000">
                <a:latin typeface="Montserrat Black"/>
                <a:ea typeface="Montserrat Black"/>
                <a:cs typeface="Montserrat Black"/>
                <a:sym typeface="Montserrat Black"/>
              </a:rPr>
              <a:t>Pros:</a:t>
            </a:r>
            <a:endParaRPr sz="6000">
              <a:latin typeface="Montserrat Black"/>
              <a:ea typeface="Montserrat Black"/>
              <a:cs typeface="Montserrat Black"/>
              <a:sym typeface="Montserrat Black"/>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Excelente </a:t>
            </a:r>
            <a:r>
              <a:rPr b="1" lang="es" sz="5092">
                <a:latin typeface="Montserrat"/>
                <a:ea typeface="Montserrat"/>
                <a:cs typeface="Montserrat"/>
                <a:sym typeface="Montserrat"/>
              </a:rPr>
              <a:t>integración</a:t>
            </a:r>
            <a:r>
              <a:rPr b="1" lang="es" sz="5092">
                <a:latin typeface="Montserrat"/>
                <a:ea typeface="Montserrat"/>
                <a:cs typeface="Montserrat"/>
                <a:sym typeface="Montserrat"/>
              </a:rPr>
              <a:t> con productos </a:t>
            </a:r>
            <a:r>
              <a:rPr b="1" lang="es" sz="5092">
                <a:latin typeface="Montserrat"/>
                <a:ea typeface="Montserrat"/>
                <a:cs typeface="Montserrat"/>
                <a:sym typeface="Montserrat"/>
              </a:rPr>
              <a:t>Microsoft</a:t>
            </a:r>
            <a:endParaRPr b="1" sz="5092">
              <a:latin typeface="Montserrat"/>
              <a:ea typeface="Montserrat"/>
              <a:cs typeface="Montserrat"/>
              <a:sym typeface="Montserrat"/>
            </a:endParaRPr>
          </a:p>
          <a:p>
            <a:pPr indent="0" lvl="0" marL="0" rtl="0" algn="l">
              <a:spcBef>
                <a:spcPts val="1200"/>
              </a:spcBef>
              <a:spcAft>
                <a:spcPts val="0"/>
              </a:spcAft>
              <a:buNone/>
            </a:pPr>
            <a:r>
              <a:t/>
            </a:r>
            <a:endParaRPr b="1" sz="5092">
              <a:latin typeface="Montserrat"/>
              <a:ea typeface="Montserrat"/>
              <a:cs typeface="Montserrat"/>
              <a:sym typeface="Montserrat"/>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Interfaz más fácil de usar y más intuitiva</a:t>
            </a:r>
            <a:endParaRPr b="1" sz="5092">
              <a:latin typeface="Montserrat"/>
              <a:ea typeface="Montserrat"/>
              <a:cs typeface="Montserrat"/>
              <a:sym typeface="Montserrat"/>
            </a:endParaRPr>
          </a:p>
          <a:p>
            <a:pPr indent="0" lvl="0" marL="0" rtl="0" algn="l">
              <a:spcBef>
                <a:spcPts val="1200"/>
              </a:spcBef>
              <a:spcAft>
                <a:spcPts val="0"/>
              </a:spcAft>
              <a:buNone/>
            </a:pPr>
            <a:r>
              <a:t/>
            </a:r>
            <a:endParaRPr b="1" sz="5092">
              <a:latin typeface="Montserrat"/>
              <a:ea typeface="Montserrat"/>
              <a:cs typeface="Montserrat"/>
              <a:sym typeface="Montserrat"/>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Muy buena opción para empresas que usan entorno Microsoft</a:t>
            </a:r>
            <a:endParaRPr b="1" sz="5092">
              <a:latin typeface="Montserrat"/>
              <a:ea typeface="Montserrat"/>
              <a:cs typeface="Montserrat"/>
              <a:sym typeface="Montserrat"/>
            </a:endParaRPr>
          </a:p>
          <a:p>
            <a:pPr indent="0" lvl="0" marL="0" rtl="0" algn="l">
              <a:spcBef>
                <a:spcPts val="1200"/>
              </a:spcBef>
              <a:spcAft>
                <a:spcPts val="0"/>
              </a:spcAft>
              <a:buNone/>
            </a:pPr>
            <a:r>
              <a:t/>
            </a:r>
            <a:endParaRPr b="1" sz="5092">
              <a:latin typeface="Montserrat"/>
              <a:ea typeface="Montserrat"/>
              <a:cs typeface="Montserrat"/>
              <a:sym typeface="Montserrat"/>
            </a:endParaRPr>
          </a:p>
          <a:p>
            <a:pPr indent="-309442" lvl="0" marL="457200" rtl="0" algn="l">
              <a:spcBef>
                <a:spcPts val="1200"/>
              </a:spcBef>
              <a:spcAft>
                <a:spcPts val="0"/>
              </a:spcAft>
              <a:buSzPct val="100000"/>
              <a:buFont typeface="Montserrat"/>
              <a:buChar char="●"/>
            </a:pPr>
            <a:r>
              <a:rPr b="1" lang="es" sz="5092">
                <a:latin typeface="Montserrat"/>
                <a:ea typeface="Montserrat"/>
                <a:cs typeface="Montserrat"/>
                <a:sym typeface="Montserrat"/>
              </a:rPr>
              <a:t>Buen soporte para entornos empresariales híbridos </a:t>
            </a:r>
            <a:endParaRPr b="1" sz="5092">
              <a:latin typeface="Montserrat"/>
              <a:ea typeface="Montserrat"/>
              <a:cs typeface="Montserrat"/>
              <a:sym typeface="Montserrat"/>
            </a:endParaRPr>
          </a:p>
        </p:txBody>
      </p:sp>
      <p:sp>
        <p:nvSpPr>
          <p:cNvPr id="175" name="Google Shape;175;p19"/>
          <p:cNvSpPr txBox="1"/>
          <p:nvPr>
            <p:ph idx="2" type="body"/>
          </p:nvPr>
        </p:nvSpPr>
        <p:spPr>
          <a:xfrm>
            <a:off x="4933225" y="1307850"/>
            <a:ext cx="3403200" cy="361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500">
                <a:latin typeface="Montserrat Black"/>
                <a:ea typeface="Montserrat Black"/>
                <a:cs typeface="Montserrat Black"/>
                <a:sym typeface="Montserrat Black"/>
              </a:rPr>
              <a:t>Contras:</a:t>
            </a:r>
            <a:endParaRPr sz="1500">
              <a:latin typeface="Montserrat Black"/>
              <a:ea typeface="Montserrat Black"/>
              <a:cs typeface="Montserrat Black"/>
              <a:sym typeface="Montserrat Black"/>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Menor variedad de </a:t>
            </a:r>
            <a:r>
              <a:rPr b="1" lang="es">
                <a:latin typeface="Montserrat"/>
                <a:ea typeface="Montserrat"/>
                <a:cs typeface="Montserrat"/>
                <a:sym typeface="Montserrat"/>
              </a:rPr>
              <a:t>servicios</a:t>
            </a:r>
            <a:r>
              <a:rPr b="1" lang="es">
                <a:latin typeface="Montserrat"/>
                <a:ea typeface="Montserrat"/>
                <a:cs typeface="Montserrat"/>
                <a:sym typeface="Montserrat"/>
              </a:rPr>
              <a:t> en </a:t>
            </a:r>
            <a:r>
              <a:rPr b="1" lang="es">
                <a:latin typeface="Montserrat"/>
                <a:ea typeface="Montserrat"/>
                <a:cs typeface="Montserrat"/>
                <a:sym typeface="Montserrat"/>
              </a:rPr>
              <a:t>comparación</a:t>
            </a:r>
            <a:r>
              <a:rPr b="1" lang="es">
                <a:latin typeface="Montserrat"/>
                <a:ea typeface="Montserrat"/>
                <a:cs typeface="Montserrat"/>
                <a:sym typeface="Montserrat"/>
              </a:rPr>
              <a:t> con AWS</a:t>
            </a:r>
            <a:endParaRPr b="1">
              <a:latin typeface="Montserrat"/>
              <a:ea typeface="Montserrat"/>
              <a:cs typeface="Montserrat"/>
              <a:sym typeface="Montserrat"/>
            </a:endParaRPr>
          </a:p>
          <a:p>
            <a:pPr indent="0" lvl="0" marL="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Puede ser </a:t>
            </a:r>
            <a:r>
              <a:rPr b="1" lang="es">
                <a:latin typeface="Montserrat"/>
                <a:ea typeface="Montserrat"/>
                <a:cs typeface="Montserrat"/>
                <a:sym typeface="Montserrat"/>
              </a:rPr>
              <a:t>más</a:t>
            </a:r>
            <a:r>
              <a:rPr b="1" lang="es">
                <a:latin typeface="Montserrat"/>
                <a:ea typeface="Montserrat"/>
                <a:cs typeface="Montserrat"/>
                <a:sym typeface="Montserrat"/>
              </a:rPr>
              <a:t> </a:t>
            </a:r>
            <a:r>
              <a:rPr b="1" lang="es">
                <a:latin typeface="Montserrat"/>
                <a:ea typeface="Montserrat"/>
                <a:cs typeface="Montserrat"/>
                <a:sym typeface="Montserrat"/>
              </a:rPr>
              <a:t>costoso</a:t>
            </a:r>
            <a:r>
              <a:rPr b="1" lang="es">
                <a:latin typeface="Montserrat"/>
                <a:ea typeface="Montserrat"/>
                <a:cs typeface="Montserrat"/>
                <a:sym typeface="Montserrat"/>
              </a:rPr>
              <a:t> </a:t>
            </a:r>
            <a:r>
              <a:rPr b="1" lang="es">
                <a:latin typeface="Montserrat"/>
                <a:ea typeface="Montserrat"/>
                <a:cs typeface="Montserrat"/>
                <a:sym typeface="Montserrat"/>
              </a:rPr>
              <a:t>dependiendo</a:t>
            </a:r>
            <a:r>
              <a:rPr b="1" lang="es">
                <a:latin typeface="Montserrat"/>
                <a:ea typeface="Montserrat"/>
                <a:cs typeface="Montserrat"/>
                <a:sym typeface="Montserrat"/>
              </a:rPr>
              <a:t> de la </a:t>
            </a:r>
            <a:r>
              <a:rPr b="1" lang="es">
                <a:latin typeface="Montserrat"/>
                <a:ea typeface="Montserrat"/>
                <a:cs typeface="Montserrat"/>
                <a:sym typeface="Montserrat"/>
              </a:rPr>
              <a:t>configuración</a:t>
            </a:r>
            <a:r>
              <a:rPr b="1" lang="es">
                <a:latin typeface="Montserrat"/>
                <a:ea typeface="Montserrat"/>
                <a:cs typeface="Montserrat"/>
                <a:sym typeface="Montserrat"/>
              </a:rPr>
              <a:t> </a:t>
            </a:r>
            <a:endParaRPr b="1">
              <a:latin typeface="Montserrat"/>
              <a:ea typeface="Montserrat"/>
              <a:cs typeface="Montserrat"/>
              <a:sym typeface="Montserrat"/>
            </a:endParaRPr>
          </a:p>
          <a:p>
            <a:pPr indent="0" lvl="0" marL="0" rtl="0" algn="l">
              <a:spcBef>
                <a:spcPts val="1200"/>
              </a:spcBef>
              <a:spcAft>
                <a:spcPts val="0"/>
              </a:spcAft>
              <a:buNone/>
            </a:pPr>
            <a:r>
              <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Mejor optimizado para </a:t>
            </a:r>
            <a:r>
              <a:rPr b="1" lang="es">
                <a:latin typeface="Montserrat"/>
                <a:ea typeface="Montserrat"/>
                <a:cs typeface="Montserrat"/>
                <a:sym typeface="Montserrat"/>
              </a:rPr>
              <a:t>Microsoft</a:t>
            </a:r>
            <a:r>
              <a:rPr b="1" lang="es">
                <a:latin typeface="Montserrat"/>
                <a:ea typeface="Montserrat"/>
                <a:cs typeface="Montserrat"/>
                <a:sym typeface="Montserrat"/>
              </a:rPr>
              <a:t> </a:t>
            </a:r>
            <a:r>
              <a:rPr b="1" lang="es">
                <a:latin typeface="Montserrat"/>
                <a:ea typeface="Montserrat"/>
                <a:cs typeface="Montserrat"/>
                <a:sym typeface="Montserrat"/>
              </a:rPr>
              <a:t>que</a:t>
            </a:r>
            <a:r>
              <a:rPr b="1" lang="es">
                <a:latin typeface="Montserrat"/>
                <a:ea typeface="Montserrat"/>
                <a:cs typeface="Montserrat"/>
                <a:sym typeface="Montserrat"/>
              </a:rPr>
              <a:t> para open source</a:t>
            </a:r>
            <a:endParaRPr b="1">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4</a:t>
            </a:r>
            <a:r>
              <a:rPr lang="es" sz="3000">
                <a:latin typeface="Montserrat Black"/>
                <a:ea typeface="Montserrat Black"/>
                <a:cs typeface="Montserrat Black"/>
                <a:sym typeface="Montserrat Black"/>
              </a:rPr>
              <a:t>.  Terraform</a:t>
            </a:r>
            <a:endParaRPr sz="3000">
              <a:latin typeface="Montserrat Black"/>
              <a:ea typeface="Montserrat Black"/>
              <a:cs typeface="Montserrat Black"/>
              <a:sym typeface="Montserrat Black"/>
            </a:endParaRPr>
          </a:p>
        </p:txBody>
      </p:sp>
      <p:sp>
        <p:nvSpPr>
          <p:cNvPr id="181" name="Google Shape;181;p20"/>
          <p:cNvSpPr txBox="1"/>
          <p:nvPr>
            <p:ph idx="1" type="body"/>
          </p:nvPr>
        </p:nvSpPr>
        <p:spPr>
          <a:xfrm>
            <a:off x="1297500" y="1307850"/>
            <a:ext cx="7038900" cy="317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latin typeface="Montserrat"/>
                <a:ea typeface="Montserrat"/>
                <a:cs typeface="Montserrat"/>
                <a:sym typeface="Montserrat"/>
              </a:rPr>
              <a:t>Terraform es una herramienta de </a:t>
            </a:r>
            <a:r>
              <a:rPr b="1" lang="es">
                <a:latin typeface="Montserrat"/>
                <a:ea typeface="Montserrat"/>
                <a:cs typeface="Montserrat"/>
                <a:sym typeface="Montserrat"/>
              </a:rPr>
              <a:t>código</a:t>
            </a:r>
            <a:r>
              <a:rPr b="1" lang="es">
                <a:latin typeface="Montserrat"/>
                <a:ea typeface="Montserrat"/>
                <a:cs typeface="Montserrat"/>
                <a:sym typeface="Montserrat"/>
              </a:rPr>
              <a:t> abierto creada por HashiCorp, que nos permite definir infraestructura cloud usando código en lugar de interfaz gráfica. </a:t>
            </a:r>
            <a:endParaRPr b="1">
              <a:latin typeface="Montserrat"/>
              <a:ea typeface="Montserrat"/>
              <a:cs typeface="Montserrat"/>
              <a:sym typeface="Montserrat"/>
            </a:endParaRPr>
          </a:p>
          <a:p>
            <a:pPr indent="0" lvl="0" marL="0" rtl="0" algn="l">
              <a:spcBef>
                <a:spcPts val="1200"/>
              </a:spcBef>
              <a:spcAft>
                <a:spcPts val="0"/>
              </a:spcAft>
              <a:buNone/>
            </a:pPr>
            <a:r>
              <a:rPr b="1" lang="es">
                <a:latin typeface="Montserrat"/>
                <a:ea typeface="Montserrat"/>
                <a:cs typeface="Montserrat"/>
                <a:sym typeface="Montserrat"/>
              </a:rPr>
              <a:t>Ventajas</a:t>
            </a:r>
            <a:r>
              <a:rPr b="1" lang="es">
                <a:latin typeface="Montserrat"/>
                <a:ea typeface="Montserrat"/>
                <a:cs typeface="Montserrat"/>
                <a:sym typeface="Montserrat"/>
              </a:rPr>
              <a:t> principales:</a:t>
            </a:r>
            <a:endParaRPr b="1">
              <a:latin typeface="Montserrat"/>
              <a:ea typeface="Montserrat"/>
              <a:cs typeface="Montserrat"/>
              <a:sym typeface="Montserrat"/>
            </a:endParaRPr>
          </a:p>
          <a:p>
            <a:pPr indent="-311150" lvl="0" marL="457200" rtl="0" algn="l">
              <a:spcBef>
                <a:spcPts val="1200"/>
              </a:spcBef>
              <a:spcAft>
                <a:spcPts val="0"/>
              </a:spcAft>
              <a:buSzPts val="1300"/>
              <a:buFont typeface="Montserrat"/>
              <a:buChar char="-"/>
            </a:pPr>
            <a:r>
              <a:rPr b="1" lang="es">
                <a:latin typeface="Montserrat"/>
                <a:ea typeface="Montserrat"/>
                <a:cs typeface="Montserrat"/>
                <a:sym typeface="Montserrat"/>
              </a:rPr>
              <a:t>Automatización de procesos</a:t>
            </a:r>
            <a:endParaRPr b="1">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b="1" lang="es">
                <a:latin typeface="Montserrat"/>
                <a:ea typeface="Montserrat"/>
                <a:cs typeface="Montserrat"/>
                <a:sym typeface="Montserrat"/>
              </a:rPr>
              <a:t>Implementación multiplataforma</a:t>
            </a:r>
            <a:endParaRPr b="1">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b="1" lang="es">
                <a:latin typeface="Montserrat"/>
                <a:ea typeface="Montserrat"/>
                <a:cs typeface="Montserrat"/>
                <a:sym typeface="Montserrat"/>
              </a:rPr>
              <a:t>Control de versiones (github)</a:t>
            </a:r>
            <a:endParaRPr b="1">
              <a:latin typeface="Montserrat"/>
              <a:ea typeface="Montserrat"/>
              <a:cs typeface="Montserrat"/>
              <a:sym typeface="Montserrat"/>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82" name="Google Shape;182;p20"/>
          <p:cNvPicPr preferRelativeResize="0"/>
          <p:nvPr/>
        </p:nvPicPr>
        <p:blipFill>
          <a:blip r:embed="rId3">
            <a:alphaModFix/>
          </a:blip>
          <a:stretch>
            <a:fillRect/>
          </a:stretch>
        </p:blipFill>
        <p:spPr>
          <a:xfrm>
            <a:off x="4924300" y="2467500"/>
            <a:ext cx="3935850" cy="22139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5.</a:t>
            </a:r>
            <a:r>
              <a:rPr lang="es" sz="3000">
                <a:latin typeface="Montserrat Black"/>
                <a:ea typeface="Montserrat Black"/>
                <a:cs typeface="Montserrat Black"/>
                <a:sym typeface="Montserrat Black"/>
              </a:rPr>
              <a:t>  Dificultades</a:t>
            </a:r>
            <a:endParaRPr sz="3000">
              <a:latin typeface="Montserrat Black"/>
              <a:ea typeface="Montserrat Black"/>
              <a:cs typeface="Montserrat Black"/>
              <a:sym typeface="Montserrat Black"/>
            </a:endParaRPr>
          </a:p>
        </p:txBody>
      </p:sp>
      <p:pic>
        <p:nvPicPr>
          <p:cNvPr id="188" name="Google Shape;188;p21"/>
          <p:cNvPicPr preferRelativeResize="0"/>
          <p:nvPr/>
        </p:nvPicPr>
        <p:blipFill>
          <a:blip r:embed="rId3">
            <a:alphaModFix/>
          </a:blip>
          <a:stretch>
            <a:fillRect/>
          </a:stretch>
        </p:blipFill>
        <p:spPr>
          <a:xfrm>
            <a:off x="1297500" y="1154276"/>
            <a:ext cx="7038900" cy="37377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7118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6</a:t>
            </a:r>
            <a:r>
              <a:rPr lang="es" sz="3000">
                <a:latin typeface="Montserrat Black"/>
                <a:ea typeface="Montserrat Black"/>
                <a:cs typeface="Montserrat Black"/>
                <a:sym typeface="Montserrat Black"/>
              </a:rPr>
              <a:t>.1  Archivos terraform compartidos</a:t>
            </a:r>
            <a:endParaRPr sz="3000">
              <a:latin typeface="Montserrat Black"/>
              <a:ea typeface="Montserrat Black"/>
              <a:cs typeface="Montserrat Black"/>
              <a:sym typeface="Montserrat Black"/>
            </a:endParaRPr>
          </a:p>
        </p:txBody>
      </p:sp>
      <p:sp>
        <p:nvSpPr>
          <p:cNvPr id="194" name="Google Shape;194;p22"/>
          <p:cNvSpPr txBox="1"/>
          <p:nvPr>
            <p:ph idx="1" type="body"/>
          </p:nvPr>
        </p:nvSpPr>
        <p:spPr>
          <a:xfrm>
            <a:off x="1297500" y="1567550"/>
            <a:ext cx="77118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sz="2400">
              <a:latin typeface="Montserrat Black"/>
              <a:ea typeface="Montserrat Black"/>
              <a:cs typeface="Montserrat Black"/>
              <a:sym typeface="Montserrat Black"/>
            </a:endParaRPr>
          </a:p>
          <a:p>
            <a:pPr indent="0" lvl="0" marL="0" rtl="0" algn="l">
              <a:spcBef>
                <a:spcPts val="1200"/>
              </a:spcBef>
              <a:spcAft>
                <a:spcPts val="1200"/>
              </a:spcAft>
              <a:buNone/>
            </a:pPr>
            <a:r>
              <a:rPr lang="es" sz="2100">
                <a:latin typeface="Montserrat Black"/>
                <a:ea typeface="Montserrat Black"/>
                <a:cs typeface="Montserrat Black"/>
                <a:sym typeface="Montserrat Black"/>
              </a:rPr>
              <a:t>Enlace github: </a:t>
            </a:r>
            <a:r>
              <a:rPr lang="es" sz="2100">
                <a:solidFill>
                  <a:schemeClr val="hlink"/>
                </a:solidFill>
                <a:uFill>
                  <a:noFill/>
                </a:uFill>
                <a:latin typeface="Montserrat Black"/>
                <a:ea typeface="Montserrat Black"/>
                <a:cs typeface="Montserrat Black"/>
                <a:sym typeface="Montserrat Black"/>
                <a:hlinkClick r:id="rId3"/>
              </a:rPr>
              <a:t>https://github.com/Jagui2005/cloud</a:t>
            </a:r>
            <a:endParaRPr sz="2100">
              <a:latin typeface="Montserrat Black"/>
              <a:ea typeface="Montserrat Black"/>
              <a:cs typeface="Montserrat Black"/>
              <a:sym typeface="Montserrat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6</a:t>
            </a:r>
            <a:r>
              <a:rPr lang="es" sz="3000">
                <a:latin typeface="Montserrat Black"/>
                <a:ea typeface="Montserrat Black"/>
                <a:cs typeface="Montserrat Black"/>
                <a:sym typeface="Montserrat Black"/>
              </a:rPr>
              <a:t>.2  </a:t>
            </a:r>
            <a:r>
              <a:rPr lang="es" sz="3000">
                <a:latin typeface="Montserrat Black"/>
                <a:ea typeface="Montserrat Black"/>
                <a:cs typeface="Montserrat Black"/>
                <a:sym typeface="Montserrat Black"/>
              </a:rPr>
              <a:t>Código</a:t>
            </a:r>
            <a:r>
              <a:rPr lang="es" sz="3000">
                <a:latin typeface="Montserrat Black"/>
                <a:ea typeface="Montserrat Black"/>
                <a:cs typeface="Montserrat Black"/>
                <a:sym typeface="Montserrat Black"/>
              </a:rPr>
              <a:t> terraform para AWS </a:t>
            </a:r>
            <a:endParaRPr sz="3000">
              <a:latin typeface="Montserrat Black"/>
              <a:ea typeface="Montserrat Black"/>
              <a:cs typeface="Montserrat Black"/>
              <a:sym typeface="Montserrat Black"/>
            </a:endParaRPr>
          </a:p>
        </p:txBody>
      </p:sp>
      <p:sp>
        <p:nvSpPr>
          <p:cNvPr id="200" name="Google Shape;200;p23"/>
          <p:cNvSpPr txBox="1"/>
          <p:nvPr>
            <p:ph idx="1" type="body"/>
          </p:nvPr>
        </p:nvSpPr>
        <p:spPr>
          <a:xfrm>
            <a:off x="1297500" y="1567550"/>
            <a:ext cx="7723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sz="2100"/>
          </a:p>
          <a:p>
            <a:pPr indent="0" lvl="0" marL="0" rtl="0" algn="l">
              <a:spcBef>
                <a:spcPts val="1200"/>
              </a:spcBef>
              <a:spcAft>
                <a:spcPts val="1200"/>
              </a:spcAft>
              <a:buNone/>
            </a:pPr>
            <a:r>
              <a:rPr lang="es" sz="2100">
                <a:latin typeface="Montserrat Black"/>
                <a:ea typeface="Montserrat Black"/>
                <a:cs typeface="Montserrat Black"/>
                <a:sym typeface="Montserrat Black"/>
              </a:rPr>
              <a:t>Enlace github: </a:t>
            </a:r>
            <a:r>
              <a:rPr lang="es" sz="2100">
                <a:solidFill>
                  <a:schemeClr val="hlink"/>
                </a:solidFill>
                <a:uFill>
                  <a:noFill/>
                </a:uFill>
                <a:latin typeface="Montserrat Black"/>
                <a:ea typeface="Montserrat Black"/>
                <a:cs typeface="Montserrat Black"/>
                <a:sym typeface="Montserrat Black"/>
                <a:hlinkClick r:id="rId3"/>
              </a:rPr>
              <a:t>https://github.com/Jagui2005/cloud</a:t>
            </a:r>
            <a:endParaRPr sz="2100">
              <a:latin typeface="Montserrat Black"/>
              <a:ea typeface="Montserrat Black"/>
              <a:cs typeface="Montserrat Black"/>
              <a:sym typeface="Montserrat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6</a:t>
            </a:r>
            <a:r>
              <a:rPr lang="es" sz="3000">
                <a:latin typeface="Montserrat Black"/>
                <a:ea typeface="Montserrat Black"/>
                <a:cs typeface="Montserrat Black"/>
                <a:sym typeface="Montserrat Black"/>
              </a:rPr>
              <a:t>.3  </a:t>
            </a:r>
            <a:r>
              <a:rPr lang="es" sz="3000">
                <a:latin typeface="Montserrat Black"/>
                <a:ea typeface="Montserrat Black"/>
                <a:cs typeface="Montserrat Black"/>
                <a:sym typeface="Montserrat Black"/>
              </a:rPr>
              <a:t>Código</a:t>
            </a:r>
            <a:r>
              <a:rPr lang="es" sz="3000">
                <a:latin typeface="Montserrat Black"/>
                <a:ea typeface="Montserrat Black"/>
                <a:cs typeface="Montserrat Black"/>
                <a:sym typeface="Montserrat Black"/>
              </a:rPr>
              <a:t> terraform para azure</a:t>
            </a:r>
            <a:endParaRPr sz="3000">
              <a:latin typeface="Montserrat Black"/>
              <a:ea typeface="Montserrat Black"/>
              <a:cs typeface="Montserrat Black"/>
              <a:sym typeface="Montserrat Black"/>
            </a:endParaRPr>
          </a:p>
        </p:txBody>
      </p:sp>
      <p:sp>
        <p:nvSpPr>
          <p:cNvPr id="206" name="Google Shape;206;p24"/>
          <p:cNvSpPr txBox="1"/>
          <p:nvPr>
            <p:ph idx="1" type="body"/>
          </p:nvPr>
        </p:nvSpPr>
        <p:spPr>
          <a:xfrm>
            <a:off x="1297500" y="1567550"/>
            <a:ext cx="76650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sz="2100">
                <a:latin typeface="Montserrat Black"/>
                <a:ea typeface="Montserrat Black"/>
                <a:cs typeface="Montserrat Black"/>
                <a:sym typeface="Montserrat Black"/>
              </a:rPr>
              <a:t>Enlace github: </a:t>
            </a:r>
            <a:r>
              <a:rPr lang="es" sz="2100">
                <a:solidFill>
                  <a:schemeClr val="accent5"/>
                </a:solidFill>
                <a:uFill>
                  <a:noFill/>
                </a:uFill>
                <a:latin typeface="Montserrat Black"/>
                <a:ea typeface="Montserrat Black"/>
                <a:cs typeface="Montserrat Black"/>
                <a:sym typeface="Montserrat Black"/>
                <a:hlinkClick r:id="rId3">
                  <a:extLst>
                    <a:ext uri="{A12FA001-AC4F-418D-AE19-62706E023703}">
                      <ahyp:hlinkClr val="tx"/>
                    </a:ext>
                  </a:extLst>
                </a:hlinkClick>
              </a:rPr>
              <a:t>https://github.com/Jagui2005/cloud</a:t>
            </a:r>
            <a:r>
              <a:rPr lang="es" sz="2100">
                <a:latin typeface="Montserrat Black"/>
                <a:ea typeface="Montserrat Black"/>
                <a:cs typeface="Montserrat Black"/>
                <a:sym typeface="Montserrat Black"/>
              </a:rPr>
              <a:t>          </a:t>
            </a:r>
            <a:endParaRPr sz="2100">
              <a:latin typeface="Montserrat Black"/>
              <a:ea typeface="Montserrat Black"/>
              <a:cs typeface="Montserrat Black"/>
              <a:sym typeface="Montserrat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Montserrat Black"/>
                <a:ea typeface="Montserrat Black"/>
                <a:cs typeface="Montserrat Black"/>
                <a:sym typeface="Montserrat Black"/>
              </a:rPr>
              <a:t>7</a:t>
            </a:r>
            <a:r>
              <a:rPr lang="es" sz="3000">
                <a:latin typeface="Montserrat Black"/>
                <a:ea typeface="Montserrat Black"/>
                <a:cs typeface="Montserrat Black"/>
                <a:sym typeface="Montserrat Black"/>
              </a:rPr>
              <a:t>. Conclusión</a:t>
            </a:r>
            <a:r>
              <a:rPr lang="es" sz="2800">
                <a:latin typeface="Montserrat Black"/>
                <a:ea typeface="Montserrat Black"/>
                <a:cs typeface="Montserrat Black"/>
                <a:sym typeface="Montserrat Black"/>
              </a:rPr>
              <a:t> </a:t>
            </a:r>
            <a:endParaRPr/>
          </a:p>
        </p:txBody>
      </p:sp>
      <p:sp>
        <p:nvSpPr>
          <p:cNvPr id="212" name="Google Shape;212;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20000"/>
          </a:bodyPr>
          <a:lstStyle/>
          <a:p>
            <a:pPr indent="-366395" lvl="0" marL="457200" rtl="0" algn="l">
              <a:lnSpc>
                <a:spcPct val="100000"/>
              </a:lnSpc>
              <a:spcBef>
                <a:spcPts val="0"/>
              </a:spcBef>
              <a:spcAft>
                <a:spcPts val="0"/>
              </a:spcAft>
              <a:buSzPct val="100000"/>
              <a:buFont typeface="Montserrat"/>
              <a:buChar char="●"/>
            </a:pPr>
            <a:r>
              <a:rPr lang="es" sz="2800">
                <a:latin typeface="Montserrat"/>
                <a:ea typeface="Montserrat"/>
                <a:cs typeface="Montserrat"/>
                <a:sym typeface="Montserrat"/>
              </a:rPr>
              <a:t>Automatizar despliegues ahorra tiempo y evita errores manuales, aunque la curva de aprendizaje inicial es exigente.</a:t>
            </a:r>
            <a:endParaRPr sz="2800">
              <a:latin typeface="Montserrat"/>
              <a:ea typeface="Montserrat"/>
              <a:cs typeface="Montserrat"/>
              <a:sym typeface="Montserrat"/>
            </a:endParaRPr>
          </a:p>
          <a:p>
            <a:pPr indent="0" lvl="0" marL="0" rtl="0" algn="l">
              <a:lnSpc>
                <a:spcPct val="100000"/>
              </a:lnSpc>
              <a:spcBef>
                <a:spcPts val="0"/>
              </a:spcBef>
              <a:spcAft>
                <a:spcPts val="0"/>
              </a:spcAft>
              <a:buNone/>
            </a:pPr>
            <a:r>
              <a:t/>
            </a:r>
            <a:endParaRPr sz="2800">
              <a:latin typeface="Montserrat"/>
              <a:ea typeface="Montserrat"/>
              <a:cs typeface="Montserrat"/>
              <a:sym typeface="Montserrat"/>
            </a:endParaRPr>
          </a:p>
          <a:p>
            <a:pPr indent="-366395" lvl="0" marL="457200" rtl="0" algn="l">
              <a:lnSpc>
                <a:spcPct val="100000"/>
              </a:lnSpc>
              <a:spcBef>
                <a:spcPts val="0"/>
              </a:spcBef>
              <a:spcAft>
                <a:spcPts val="0"/>
              </a:spcAft>
              <a:buSzPct val="100000"/>
              <a:buFont typeface="Montserrat"/>
              <a:buChar char="●"/>
            </a:pPr>
            <a:r>
              <a:rPr lang="es" sz="2800">
                <a:latin typeface="Montserrat"/>
                <a:ea typeface="Montserrat"/>
                <a:cs typeface="Montserrat"/>
                <a:sym typeface="Montserrat"/>
              </a:rPr>
              <a:t>Dificultades técnicas con la autenticación y cuotas en Azure.</a:t>
            </a:r>
            <a:endParaRPr sz="2800">
              <a:latin typeface="Montserrat"/>
              <a:ea typeface="Montserrat"/>
              <a:cs typeface="Montserrat"/>
              <a:sym typeface="Montserrat"/>
            </a:endParaRPr>
          </a:p>
          <a:p>
            <a:pPr indent="0" lvl="0" marL="457200" rtl="0" algn="l">
              <a:lnSpc>
                <a:spcPct val="100000"/>
              </a:lnSpc>
              <a:spcBef>
                <a:spcPts val="0"/>
              </a:spcBef>
              <a:spcAft>
                <a:spcPts val="0"/>
              </a:spcAft>
              <a:buNone/>
            </a:pPr>
            <a:r>
              <a:t/>
            </a:r>
            <a:endParaRPr sz="2800">
              <a:latin typeface="Montserrat"/>
              <a:ea typeface="Montserrat"/>
              <a:cs typeface="Montserrat"/>
              <a:sym typeface="Montserrat"/>
            </a:endParaRPr>
          </a:p>
          <a:p>
            <a:pPr indent="-366395" lvl="0" marL="457200" rtl="0" algn="l">
              <a:lnSpc>
                <a:spcPct val="100000"/>
              </a:lnSpc>
              <a:spcBef>
                <a:spcPts val="0"/>
              </a:spcBef>
              <a:spcAft>
                <a:spcPts val="0"/>
              </a:spcAft>
              <a:buSzPct val="100000"/>
              <a:buFont typeface="Montserrat"/>
              <a:buChar char="●"/>
            </a:pPr>
            <a:r>
              <a:rPr lang="es" sz="2800">
                <a:latin typeface="Montserrat"/>
                <a:ea typeface="Montserrat"/>
                <a:cs typeface="Montserrat"/>
                <a:sym typeface="Montserrat"/>
              </a:rPr>
              <a:t>Escalabilidad futura mediante modularización y automatización con CI/CD.</a:t>
            </a:r>
            <a:endParaRPr sz="2800">
              <a:latin typeface="Montserrat"/>
              <a:ea typeface="Montserrat"/>
              <a:cs typeface="Montserrat"/>
              <a:sym typeface="Montserrat"/>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3000">
                <a:latin typeface="Montserrat Black"/>
                <a:ea typeface="Montserrat Black"/>
                <a:cs typeface="Montserrat Black"/>
                <a:sym typeface="Montserrat Black"/>
              </a:rPr>
              <a:t>DUDAS?</a:t>
            </a:r>
            <a:endParaRPr sz="2800"/>
          </a:p>
        </p:txBody>
      </p:sp>
      <p:pic>
        <p:nvPicPr>
          <p:cNvPr id="218" name="Google Shape;218;p26"/>
          <p:cNvPicPr preferRelativeResize="0"/>
          <p:nvPr/>
        </p:nvPicPr>
        <p:blipFill>
          <a:blip r:embed="rId3">
            <a:alphaModFix/>
          </a:blip>
          <a:stretch>
            <a:fillRect/>
          </a:stretch>
        </p:blipFill>
        <p:spPr>
          <a:xfrm>
            <a:off x="2920750" y="1447900"/>
            <a:ext cx="3516175" cy="3516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